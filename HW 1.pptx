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296" r:id="rId6"/>
    <p:sldId id="293" r:id="rId7"/>
    <p:sldId id="294" r:id="rId8"/>
    <p:sldId id="295" r:id="rId9"/>
    <p:sldId id="297" r:id="rId10"/>
    <p:sldId id="298" r:id="rId11"/>
    <p:sldId id="299" r:id="rId12"/>
    <p:sldId id="300" r:id="rId13"/>
    <p:sldId id="302" r:id="rId14"/>
    <p:sldId id="301" r:id="rId15"/>
    <p:sldId id="303" r:id="rId16"/>
    <p:sldId id="304" r:id="rId17"/>
    <p:sldId id="305" r:id="rId18"/>
    <p:sldId id="30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3204" autoAdjust="0"/>
  </p:normalViewPr>
  <p:slideViewPr>
    <p:cSldViewPr snapToGrid="0">
      <p:cViewPr varScale="1">
        <p:scale>
          <a:sx n="69" d="100"/>
          <a:sy n="69" d="100"/>
        </p:scale>
        <p:origin x="567" y="51"/>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2/11/2026</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2/11/2026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github.com/MainakRepositor/Datasets/blob/master/Stocks/MSFT.csv"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8008" y="2559150"/>
            <a:ext cx="6856292" cy="1739700"/>
          </a:xfrm>
        </p:spPr>
        <p:txBody>
          <a:bodyPr>
            <a:normAutofit/>
          </a:bodyPr>
          <a:lstStyle/>
          <a:p>
            <a:pPr algn="ctr"/>
            <a:r>
              <a:rPr lang="en-US" dirty="0"/>
              <a:t>STA 301H</a:t>
            </a:r>
            <a:br>
              <a:rPr lang="en-US" dirty="0"/>
            </a:br>
            <a:r>
              <a:rPr lang="en-US" dirty="0"/>
              <a:t>Homework #1</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02FB-8705-2D24-D070-FF4E298D764C}"/>
              </a:ext>
            </a:extLst>
          </p:cNvPr>
          <p:cNvSpPr>
            <a:spLocks noGrp="1"/>
          </p:cNvSpPr>
          <p:nvPr>
            <p:ph type="ctrTitle"/>
          </p:nvPr>
        </p:nvSpPr>
        <p:spPr/>
        <p:txBody>
          <a:bodyPr/>
          <a:lstStyle/>
          <a:p>
            <a:pPr algn="ctr"/>
            <a:r>
              <a:rPr lang="en-US" dirty="0"/>
              <a:t>Risk.csv</a:t>
            </a:r>
          </a:p>
        </p:txBody>
      </p:sp>
    </p:spTree>
    <p:extLst>
      <p:ext uri="{BB962C8B-B14F-4D97-AF65-F5344CB8AC3E}">
        <p14:creationId xmlns:p14="http://schemas.microsoft.com/office/powerpoint/2010/main" val="655480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E2BC87-F5CD-1ABD-54DD-D5931A4328B4}"/>
              </a:ext>
            </a:extLst>
          </p:cNvPr>
          <p:cNvSpPr>
            <a:spLocks noGrp="1"/>
          </p:cNvSpPr>
          <p:nvPr>
            <p:ph type="sldNum" sz="quarter" idx="12"/>
          </p:nvPr>
        </p:nvSpPr>
        <p:spPr/>
        <p:txBody>
          <a:bodyPr/>
          <a:lstStyle/>
          <a:p>
            <a:fld id="{B5CEABB6-07DC-46E8-9B57-56EC44A396E5}" type="slidenum">
              <a:rPr lang="en-US" smtClean="0"/>
              <a:pPr/>
              <a:t>3</a:t>
            </a:fld>
            <a:endParaRPr lang="en-US" dirty="0"/>
          </a:p>
        </p:txBody>
      </p:sp>
      <p:pic>
        <p:nvPicPr>
          <p:cNvPr id="7" name="Content Placeholder 6">
            <a:extLst>
              <a:ext uri="{FF2B5EF4-FFF2-40B4-BE49-F238E27FC236}">
                <a16:creationId xmlns:a16="http://schemas.microsoft.com/office/drawing/2014/main" id="{1FAAF828-8740-9C22-EE19-E8C3248ABC6C}"/>
              </a:ext>
            </a:extLst>
          </p:cNvPr>
          <p:cNvPicPr>
            <a:picLocks noGrp="1" noChangeAspect="1"/>
          </p:cNvPicPr>
          <p:nvPr>
            <p:ph sz="half" idx="14"/>
          </p:nvPr>
        </p:nvPicPr>
        <p:blipFill>
          <a:blip r:embed="rId2"/>
          <a:stretch>
            <a:fillRect/>
          </a:stretch>
        </p:blipFill>
        <p:spPr>
          <a:xfrm>
            <a:off x="1964803" y="681170"/>
            <a:ext cx="7059701" cy="4562977"/>
          </a:xfrm>
          <a:prstGeom prst="rect">
            <a:avLst/>
          </a:prstGeom>
        </p:spPr>
      </p:pic>
      <p:sp>
        <p:nvSpPr>
          <p:cNvPr id="12" name="TextBox 11">
            <a:extLst>
              <a:ext uri="{FF2B5EF4-FFF2-40B4-BE49-F238E27FC236}">
                <a16:creationId xmlns:a16="http://schemas.microsoft.com/office/drawing/2014/main" id="{6C3285EA-BB86-47C9-5ECF-C10C61FA5C2E}"/>
              </a:ext>
            </a:extLst>
          </p:cNvPr>
          <p:cNvSpPr txBox="1"/>
          <p:nvPr/>
        </p:nvSpPr>
        <p:spPr>
          <a:xfrm>
            <a:off x="177971" y="5244147"/>
            <a:ext cx="10633363" cy="1477328"/>
          </a:xfrm>
          <a:prstGeom prst="rect">
            <a:avLst/>
          </a:prstGeom>
          <a:noFill/>
        </p:spPr>
        <p:txBody>
          <a:bodyPr wrap="square" rtlCol="0">
            <a:spAutoFit/>
          </a:bodyPr>
          <a:lstStyle/>
          <a:p>
            <a:pPr algn="ctr"/>
            <a:r>
              <a:rPr lang="en-US" dirty="0"/>
              <a:t>It appears that the fact that if someone has cheating in the past does not greatly affect one’s annual income as both graphs appear skewed to the right. The median salary for the cheating group is $84,439 while the median salary for the non-cheating group is $79,820. As a result, the fact that both graphs and median salaries are similar strengthen the argument that cheating does not correlate with income level. </a:t>
            </a:r>
          </a:p>
        </p:txBody>
      </p:sp>
    </p:spTree>
    <p:extLst>
      <p:ext uri="{BB962C8B-B14F-4D97-AF65-F5344CB8AC3E}">
        <p14:creationId xmlns:p14="http://schemas.microsoft.com/office/powerpoint/2010/main" val="639135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6E61-D3DF-38D2-917B-EFC847439FD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F2AFCF-BEB1-DA51-5033-744039F5A7D0}"/>
              </a:ext>
            </a:extLst>
          </p:cNvPr>
          <p:cNvSpPr>
            <a:spLocks noGrp="1"/>
          </p:cNvSpPr>
          <p:nvPr>
            <p:ph type="sldNum" sz="quarter" idx="12"/>
          </p:nvPr>
        </p:nvSpPr>
        <p:spPr/>
        <p:txBody>
          <a:bodyPr/>
          <a:lstStyle/>
          <a:p>
            <a:fld id="{B5CEABB6-07DC-46E8-9B57-56EC44A396E5}" type="slidenum">
              <a:rPr lang="en-US" smtClean="0"/>
              <a:pPr/>
              <a:t>4</a:t>
            </a:fld>
            <a:endParaRPr lang="en-US" dirty="0"/>
          </a:p>
        </p:txBody>
      </p:sp>
      <p:pic>
        <p:nvPicPr>
          <p:cNvPr id="7" name="Content Placeholder 6">
            <a:extLst>
              <a:ext uri="{FF2B5EF4-FFF2-40B4-BE49-F238E27FC236}">
                <a16:creationId xmlns:a16="http://schemas.microsoft.com/office/drawing/2014/main" id="{A193DB37-8529-2451-BB1C-D5854C25EB43}"/>
              </a:ext>
            </a:extLst>
          </p:cNvPr>
          <p:cNvPicPr>
            <a:picLocks noGrp="1" noChangeAspect="1"/>
          </p:cNvPicPr>
          <p:nvPr>
            <p:ph sz="half" idx="14"/>
          </p:nvPr>
        </p:nvPicPr>
        <p:blipFill>
          <a:blip r:embed="rId2"/>
          <a:stretch>
            <a:fillRect/>
          </a:stretch>
        </p:blipFill>
        <p:spPr>
          <a:xfrm>
            <a:off x="1964803" y="681170"/>
            <a:ext cx="7059701" cy="4562977"/>
          </a:xfrm>
          <a:prstGeom prst="rect">
            <a:avLst/>
          </a:prstGeom>
        </p:spPr>
      </p:pic>
      <p:sp>
        <p:nvSpPr>
          <p:cNvPr id="12" name="TextBox 11">
            <a:extLst>
              <a:ext uri="{FF2B5EF4-FFF2-40B4-BE49-F238E27FC236}">
                <a16:creationId xmlns:a16="http://schemas.microsoft.com/office/drawing/2014/main" id="{E3CF6644-30D7-022F-2B53-2FC8E14BF9D3}"/>
              </a:ext>
            </a:extLst>
          </p:cNvPr>
          <p:cNvSpPr txBox="1"/>
          <p:nvPr/>
        </p:nvSpPr>
        <p:spPr>
          <a:xfrm>
            <a:off x="177971" y="5244147"/>
            <a:ext cx="10633363" cy="923330"/>
          </a:xfrm>
          <a:prstGeom prst="rect">
            <a:avLst/>
          </a:prstGeom>
          <a:noFill/>
        </p:spPr>
        <p:txBody>
          <a:bodyPr wrap="square" rtlCol="0">
            <a:spAutoFit/>
          </a:bodyPr>
          <a:lstStyle/>
          <a:p>
            <a:pPr algn="ctr"/>
            <a:r>
              <a:rPr lang="en-US" dirty="0"/>
              <a:t>It appears that of the people who have skydived before, most of them are 50 years old or less. On the other hand, the distribution of people who have not skydived before is still right skewed, but more consistent over all ages. Of the total sample, 7% have skydived before. </a:t>
            </a:r>
          </a:p>
        </p:txBody>
      </p:sp>
      <p:pic>
        <p:nvPicPr>
          <p:cNvPr id="4" name="Picture 3">
            <a:extLst>
              <a:ext uri="{FF2B5EF4-FFF2-40B4-BE49-F238E27FC236}">
                <a16:creationId xmlns:a16="http://schemas.microsoft.com/office/drawing/2014/main" id="{8A501ADB-C6FD-4EE1-D177-29DFC7FADB61}"/>
              </a:ext>
            </a:extLst>
          </p:cNvPr>
          <p:cNvPicPr>
            <a:picLocks noChangeAspect="1"/>
          </p:cNvPicPr>
          <p:nvPr/>
        </p:nvPicPr>
        <p:blipFill>
          <a:blip r:embed="rId3"/>
          <a:stretch>
            <a:fillRect/>
          </a:stretch>
        </p:blipFill>
        <p:spPr>
          <a:xfrm>
            <a:off x="1964803" y="681170"/>
            <a:ext cx="7059700" cy="4562977"/>
          </a:xfrm>
          <a:prstGeom prst="rect">
            <a:avLst/>
          </a:prstGeom>
        </p:spPr>
      </p:pic>
    </p:spTree>
    <p:extLst>
      <p:ext uri="{BB962C8B-B14F-4D97-AF65-F5344CB8AC3E}">
        <p14:creationId xmlns:p14="http://schemas.microsoft.com/office/powerpoint/2010/main" val="2657726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E7FF2-A073-FF15-1001-C6211A645B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5A1552-2F54-1338-7B6A-74D40514F63B}"/>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
        <p:nvSpPr>
          <p:cNvPr id="12" name="TextBox 11">
            <a:extLst>
              <a:ext uri="{FF2B5EF4-FFF2-40B4-BE49-F238E27FC236}">
                <a16:creationId xmlns:a16="http://schemas.microsoft.com/office/drawing/2014/main" id="{03E1B1C6-F87D-6F59-F8FC-1CE3557768F8}"/>
              </a:ext>
            </a:extLst>
          </p:cNvPr>
          <p:cNvSpPr txBox="1"/>
          <p:nvPr/>
        </p:nvSpPr>
        <p:spPr>
          <a:xfrm>
            <a:off x="436839" y="5034570"/>
            <a:ext cx="10633363" cy="1200329"/>
          </a:xfrm>
          <a:prstGeom prst="rect">
            <a:avLst/>
          </a:prstGeom>
          <a:noFill/>
        </p:spPr>
        <p:txBody>
          <a:bodyPr wrap="square" rtlCol="0">
            <a:spAutoFit/>
          </a:bodyPr>
          <a:lstStyle/>
          <a:p>
            <a:pPr algn="ctr"/>
            <a:r>
              <a:rPr lang="en-US" dirty="0"/>
              <a:t>48% of people in the sample gamble while 8% only attended high school. 4% of the sample attended only high school and gamble. P(Gamble) = 48% which is approximately P(Gamble | High School). Therefore, the two events are nearly independent. Additionally, the bar plots show that regardless of whether one gambles or not, the maximum education level is relatively the same. </a:t>
            </a:r>
          </a:p>
        </p:txBody>
      </p:sp>
      <p:pic>
        <p:nvPicPr>
          <p:cNvPr id="8" name="Picture 7">
            <a:extLst>
              <a:ext uri="{FF2B5EF4-FFF2-40B4-BE49-F238E27FC236}">
                <a16:creationId xmlns:a16="http://schemas.microsoft.com/office/drawing/2014/main" id="{8CBECBBF-01F3-7863-182F-E7CFCA01CF27}"/>
              </a:ext>
            </a:extLst>
          </p:cNvPr>
          <p:cNvPicPr>
            <a:picLocks noChangeAspect="1"/>
          </p:cNvPicPr>
          <p:nvPr/>
        </p:nvPicPr>
        <p:blipFill>
          <a:blip r:embed="rId2"/>
          <a:stretch>
            <a:fillRect/>
          </a:stretch>
        </p:blipFill>
        <p:spPr>
          <a:xfrm>
            <a:off x="177971" y="1317941"/>
            <a:ext cx="5101920" cy="3297583"/>
          </a:xfrm>
          <a:prstGeom prst="rect">
            <a:avLst/>
          </a:prstGeom>
        </p:spPr>
      </p:pic>
      <p:pic>
        <p:nvPicPr>
          <p:cNvPr id="10" name="Picture 9">
            <a:extLst>
              <a:ext uri="{FF2B5EF4-FFF2-40B4-BE49-F238E27FC236}">
                <a16:creationId xmlns:a16="http://schemas.microsoft.com/office/drawing/2014/main" id="{9202CC39-E8F3-CCDE-8FD7-0F1C96AAEB86}"/>
              </a:ext>
            </a:extLst>
          </p:cNvPr>
          <p:cNvPicPr>
            <a:picLocks noChangeAspect="1"/>
          </p:cNvPicPr>
          <p:nvPr/>
        </p:nvPicPr>
        <p:blipFill>
          <a:blip r:embed="rId3"/>
          <a:srcRect t="13325"/>
          <a:stretch>
            <a:fillRect/>
          </a:stretch>
        </p:blipFill>
        <p:spPr>
          <a:xfrm>
            <a:off x="6348916" y="1317941"/>
            <a:ext cx="2924583" cy="949546"/>
          </a:xfrm>
          <a:prstGeom prst="rect">
            <a:avLst/>
          </a:prstGeom>
        </p:spPr>
      </p:pic>
      <p:pic>
        <p:nvPicPr>
          <p:cNvPr id="13" name="Picture 12">
            <a:extLst>
              <a:ext uri="{FF2B5EF4-FFF2-40B4-BE49-F238E27FC236}">
                <a16:creationId xmlns:a16="http://schemas.microsoft.com/office/drawing/2014/main" id="{29A03D55-A5A8-A5EA-595A-007FFA596CAA}"/>
              </a:ext>
            </a:extLst>
          </p:cNvPr>
          <p:cNvPicPr>
            <a:picLocks noChangeAspect="1"/>
          </p:cNvPicPr>
          <p:nvPr/>
        </p:nvPicPr>
        <p:blipFill>
          <a:blip r:embed="rId4"/>
          <a:srcRect t="5966"/>
          <a:stretch>
            <a:fillRect/>
          </a:stretch>
        </p:blipFill>
        <p:spPr>
          <a:xfrm>
            <a:off x="5753521" y="2325604"/>
            <a:ext cx="4115374" cy="949546"/>
          </a:xfrm>
          <a:prstGeom prst="rect">
            <a:avLst/>
          </a:prstGeom>
        </p:spPr>
      </p:pic>
      <p:pic>
        <p:nvPicPr>
          <p:cNvPr id="15" name="Picture 14">
            <a:extLst>
              <a:ext uri="{FF2B5EF4-FFF2-40B4-BE49-F238E27FC236}">
                <a16:creationId xmlns:a16="http://schemas.microsoft.com/office/drawing/2014/main" id="{93ACA2DA-A16F-58A2-EDC6-1ACF321DB22F}"/>
              </a:ext>
            </a:extLst>
          </p:cNvPr>
          <p:cNvPicPr>
            <a:picLocks noChangeAspect="1"/>
          </p:cNvPicPr>
          <p:nvPr/>
        </p:nvPicPr>
        <p:blipFill>
          <a:blip r:embed="rId5"/>
          <a:srcRect t="12718" b="6973"/>
          <a:stretch>
            <a:fillRect/>
          </a:stretch>
        </p:blipFill>
        <p:spPr>
          <a:xfrm>
            <a:off x="5386375" y="3429000"/>
            <a:ext cx="5258534" cy="1507139"/>
          </a:xfrm>
          <a:prstGeom prst="rect">
            <a:avLst/>
          </a:prstGeom>
        </p:spPr>
      </p:pic>
    </p:spTree>
    <p:extLst>
      <p:ext uri="{BB962C8B-B14F-4D97-AF65-F5344CB8AC3E}">
        <p14:creationId xmlns:p14="http://schemas.microsoft.com/office/powerpoint/2010/main" val="4253996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47DD4-75E9-9715-DCBA-EB77F898A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1F87A-B717-3032-F18D-7924E1BBDCC2}"/>
              </a:ext>
            </a:extLst>
          </p:cNvPr>
          <p:cNvSpPr>
            <a:spLocks noGrp="1"/>
          </p:cNvSpPr>
          <p:nvPr>
            <p:ph type="ctrTitle"/>
          </p:nvPr>
        </p:nvSpPr>
        <p:spPr/>
        <p:txBody>
          <a:bodyPr/>
          <a:lstStyle/>
          <a:p>
            <a:pPr algn="ctr"/>
            <a:r>
              <a:rPr lang="en-US" dirty="0"/>
              <a:t>Candies.csv</a:t>
            </a:r>
          </a:p>
        </p:txBody>
      </p:sp>
    </p:spTree>
    <p:extLst>
      <p:ext uri="{BB962C8B-B14F-4D97-AF65-F5344CB8AC3E}">
        <p14:creationId xmlns:p14="http://schemas.microsoft.com/office/powerpoint/2010/main" val="63273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277B9-73E7-A074-D908-4F2A54AFE8C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3FD615-E9B7-EDFD-84DB-901980DAF402}"/>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
        <p:nvSpPr>
          <p:cNvPr id="12" name="TextBox 11">
            <a:extLst>
              <a:ext uri="{FF2B5EF4-FFF2-40B4-BE49-F238E27FC236}">
                <a16:creationId xmlns:a16="http://schemas.microsoft.com/office/drawing/2014/main" id="{705DDACB-909A-3DB8-A0A4-533028E6284E}"/>
              </a:ext>
            </a:extLst>
          </p:cNvPr>
          <p:cNvSpPr txBox="1"/>
          <p:nvPr/>
        </p:nvSpPr>
        <p:spPr>
          <a:xfrm>
            <a:off x="177970" y="5375765"/>
            <a:ext cx="10633363" cy="646331"/>
          </a:xfrm>
          <a:prstGeom prst="rect">
            <a:avLst/>
          </a:prstGeom>
          <a:noFill/>
        </p:spPr>
        <p:txBody>
          <a:bodyPr wrap="square" rtlCol="0">
            <a:spAutoFit/>
          </a:bodyPr>
          <a:lstStyle/>
          <a:p>
            <a:pPr algn="ctr"/>
            <a:r>
              <a:rPr lang="en-US" dirty="0"/>
              <a:t>There appears to be no correlation between the price of a candy and the win percentage. Therefore, the price of a candy cannot be used to predict popularity. </a:t>
            </a:r>
          </a:p>
        </p:txBody>
      </p:sp>
      <p:pic>
        <p:nvPicPr>
          <p:cNvPr id="6" name="Picture 5">
            <a:extLst>
              <a:ext uri="{FF2B5EF4-FFF2-40B4-BE49-F238E27FC236}">
                <a16:creationId xmlns:a16="http://schemas.microsoft.com/office/drawing/2014/main" id="{D2AC73DB-61BB-5B67-2F9B-36A2B1FB4499}"/>
              </a:ext>
            </a:extLst>
          </p:cNvPr>
          <p:cNvPicPr>
            <a:picLocks noChangeAspect="1"/>
          </p:cNvPicPr>
          <p:nvPr/>
        </p:nvPicPr>
        <p:blipFill>
          <a:blip r:embed="rId2"/>
          <a:stretch>
            <a:fillRect/>
          </a:stretch>
        </p:blipFill>
        <p:spPr>
          <a:xfrm>
            <a:off x="1911077" y="611721"/>
            <a:ext cx="7167150" cy="4632426"/>
          </a:xfrm>
          <a:prstGeom prst="rect">
            <a:avLst/>
          </a:prstGeom>
        </p:spPr>
      </p:pic>
    </p:spTree>
    <p:extLst>
      <p:ext uri="{BB962C8B-B14F-4D97-AF65-F5344CB8AC3E}">
        <p14:creationId xmlns:p14="http://schemas.microsoft.com/office/powerpoint/2010/main" val="4028433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5CAFD-3CD3-BDA1-BD50-BCBF3CB7F3D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46F79B-AEB5-DB23-02A3-D674A8D721F5}"/>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12" name="TextBox 11">
            <a:extLst>
              <a:ext uri="{FF2B5EF4-FFF2-40B4-BE49-F238E27FC236}">
                <a16:creationId xmlns:a16="http://schemas.microsoft.com/office/drawing/2014/main" id="{0DC34D98-5611-FADF-1B02-F0A21FF6D74F}"/>
              </a:ext>
            </a:extLst>
          </p:cNvPr>
          <p:cNvSpPr txBox="1"/>
          <p:nvPr/>
        </p:nvSpPr>
        <p:spPr>
          <a:xfrm>
            <a:off x="682337" y="5358953"/>
            <a:ext cx="10633363" cy="923330"/>
          </a:xfrm>
          <a:prstGeom prst="rect">
            <a:avLst/>
          </a:prstGeom>
          <a:noFill/>
        </p:spPr>
        <p:txBody>
          <a:bodyPr wrap="square" rtlCol="0">
            <a:spAutoFit/>
          </a:bodyPr>
          <a:lstStyle/>
          <a:p>
            <a:pPr algn="ctr"/>
            <a:r>
              <a:rPr lang="en-US" dirty="0"/>
              <a:t>12% of candies contain both Nougat and Caramel while 80% contain neither. 57% of Nougat candies include Caramel as an ingredient and 4% of candies without Caramel contain Nougat as an ingredient. </a:t>
            </a:r>
          </a:p>
        </p:txBody>
      </p:sp>
      <p:pic>
        <p:nvPicPr>
          <p:cNvPr id="4" name="Picture 3">
            <a:extLst>
              <a:ext uri="{FF2B5EF4-FFF2-40B4-BE49-F238E27FC236}">
                <a16:creationId xmlns:a16="http://schemas.microsoft.com/office/drawing/2014/main" id="{1A6E5539-CBC4-B7BB-6B39-4DE308A84180}"/>
              </a:ext>
            </a:extLst>
          </p:cNvPr>
          <p:cNvPicPr>
            <a:picLocks noChangeAspect="1"/>
          </p:cNvPicPr>
          <p:nvPr/>
        </p:nvPicPr>
        <p:blipFill>
          <a:blip r:embed="rId2"/>
          <a:stretch>
            <a:fillRect/>
          </a:stretch>
        </p:blipFill>
        <p:spPr>
          <a:xfrm>
            <a:off x="2545623" y="2380542"/>
            <a:ext cx="6906789" cy="2096915"/>
          </a:xfrm>
          <a:prstGeom prst="rect">
            <a:avLst/>
          </a:prstGeom>
        </p:spPr>
      </p:pic>
    </p:spTree>
    <p:extLst>
      <p:ext uri="{BB962C8B-B14F-4D97-AF65-F5344CB8AC3E}">
        <p14:creationId xmlns:p14="http://schemas.microsoft.com/office/powerpoint/2010/main" val="2822558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E3DD3-12DA-2937-8052-3EEC7C80E83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0687F4-736B-A579-7CC1-4B15BCFEDD7E}"/>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
        <p:nvSpPr>
          <p:cNvPr id="12" name="TextBox 11">
            <a:extLst>
              <a:ext uri="{FF2B5EF4-FFF2-40B4-BE49-F238E27FC236}">
                <a16:creationId xmlns:a16="http://schemas.microsoft.com/office/drawing/2014/main" id="{1DB5BEFB-D882-76A4-07AE-99494A3A2029}"/>
              </a:ext>
            </a:extLst>
          </p:cNvPr>
          <p:cNvSpPr txBox="1"/>
          <p:nvPr/>
        </p:nvSpPr>
        <p:spPr>
          <a:xfrm>
            <a:off x="682337" y="5358953"/>
            <a:ext cx="10633363" cy="923330"/>
          </a:xfrm>
          <a:prstGeom prst="rect">
            <a:avLst/>
          </a:prstGeom>
          <a:noFill/>
        </p:spPr>
        <p:txBody>
          <a:bodyPr wrap="square" rtlCol="0">
            <a:spAutoFit/>
          </a:bodyPr>
          <a:lstStyle/>
          <a:p>
            <a:pPr algn="ctr"/>
            <a:r>
              <a:rPr lang="en-US" dirty="0"/>
              <a:t>From the bar plot, it appears that most of the fruity candy do not contain chocolate while many non-fruity candies contain chocolate. Therefore, we can deduce that the two events occur highly dependent of each other. </a:t>
            </a:r>
          </a:p>
        </p:txBody>
      </p:sp>
      <p:pic>
        <p:nvPicPr>
          <p:cNvPr id="5" name="Picture 4">
            <a:extLst>
              <a:ext uri="{FF2B5EF4-FFF2-40B4-BE49-F238E27FC236}">
                <a16:creationId xmlns:a16="http://schemas.microsoft.com/office/drawing/2014/main" id="{CCD0858D-C19C-A7D0-71E3-83C6717392EC}"/>
              </a:ext>
            </a:extLst>
          </p:cNvPr>
          <p:cNvPicPr>
            <a:picLocks noChangeAspect="1"/>
          </p:cNvPicPr>
          <p:nvPr/>
        </p:nvPicPr>
        <p:blipFill>
          <a:blip r:embed="rId2"/>
          <a:stretch>
            <a:fillRect/>
          </a:stretch>
        </p:blipFill>
        <p:spPr>
          <a:xfrm>
            <a:off x="2612413" y="575717"/>
            <a:ext cx="6967173" cy="4503173"/>
          </a:xfrm>
          <a:prstGeom prst="rect">
            <a:avLst/>
          </a:prstGeom>
        </p:spPr>
      </p:pic>
    </p:spTree>
    <p:extLst>
      <p:ext uri="{BB962C8B-B14F-4D97-AF65-F5344CB8AC3E}">
        <p14:creationId xmlns:p14="http://schemas.microsoft.com/office/powerpoint/2010/main" val="7258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A4583-3CF4-F3DB-EEA1-FA9C8D1CF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911D1-7214-52AD-FE19-21834A33EFE7}"/>
              </a:ext>
            </a:extLst>
          </p:cNvPr>
          <p:cNvSpPr>
            <a:spLocks noGrp="1"/>
          </p:cNvSpPr>
          <p:nvPr>
            <p:ph type="ctrTitle"/>
          </p:nvPr>
        </p:nvSpPr>
        <p:spPr/>
        <p:txBody>
          <a:bodyPr/>
          <a:lstStyle/>
          <a:p>
            <a:pPr algn="ctr"/>
            <a:r>
              <a:rPr lang="en-US" dirty="0"/>
              <a:t>superbowl.csv</a:t>
            </a:r>
          </a:p>
        </p:txBody>
      </p:sp>
    </p:spTree>
    <p:extLst>
      <p:ext uri="{BB962C8B-B14F-4D97-AF65-F5344CB8AC3E}">
        <p14:creationId xmlns:p14="http://schemas.microsoft.com/office/powerpoint/2010/main" val="1599402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9970F-ED2B-1CB6-392C-048156CBB00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F8BC9C-761B-0054-A212-D49867BB7E73}"/>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
        <p:nvSpPr>
          <p:cNvPr id="12" name="TextBox 11">
            <a:extLst>
              <a:ext uri="{FF2B5EF4-FFF2-40B4-BE49-F238E27FC236}">
                <a16:creationId xmlns:a16="http://schemas.microsoft.com/office/drawing/2014/main" id="{01107883-DC4F-2DD4-27E4-13A219CA68AE}"/>
              </a:ext>
            </a:extLst>
          </p:cNvPr>
          <p:cNvSpPr txBox="1"/>
          <p:nvPr/>
        </p:nvSpPr>
        <p:spPr>
          <a:xfrm>
            <a:off x="682337" y="5358953"/>
            <a:ext cx="10633363" cy="646331"/>
          </a:xfrm>
          <a:prstGeom prst="rect">
            <a:avLst/>
          </a:prstGeom>
          <a:noFill/>
        </p:spPr>
        <p:txBody>
          <a:bodyPr wrap="square" rtlCol="0">
            <a:spAutoFit/>
          </a:bodyPr>
          <a:lstStyle/>
          <a:p>
            <a:pPr algn="ctr"/>
            <a:r>
              <a:rPr lang="en-US" dirty="0"/>
              <a:t>The Z-score for Sling Baby’s likes is 11 while the z-score for Sling Baby’s dislikes is 103. Therefore, the number of dislikes on Sling Baby is more extreme than the number of likes on the commercial. </a:t>
            </a:r>
          </a:p>
        </p:txBody>
      </p:sp>
      <p:pic>
        <p:nvPicPr>
          <p:cNvPr id="4" name="Picture 3">
            <a:extLst>
              <a:ext uri="{FF2B5EF4-FFF2-40B4-BE49-F238E27FC236}">
                <a16:creationId xmlns:a16="http://schemas.microsoft.com/office/drawing/2014/main" id="{A8A6490D-2D72-10D8-D9EC-71FDEFD48937}"/>
              </a:ext>
            </a:extLst>
          </p:cNvPr>
          <p:cNvPicPr>
            <a:picLocks noChangeAspect="1"/>
          </p:cNvPicPr>
          <p:nvPr/>
        </p:nvPicPr>
        <p:blipFill>
          <a:blip r:embed="rId2"/>
          <a:stretch>
            <a:fillRect/>
          </a:stretch>
        </p:blipFill>
        <p:spPr>
          <a:xfrm>
            <a:off x="2437889" y="1214818"/>
            <a:ext cx="7316221" cy="743054"/>
          </a:xfrm>
          <a:prstGeom prst="rect">
            <a:avLst/>
          </a:prstGeom>
        </p:spPr>
      </p:pic>
      <p:pic>
        <p:nvPicPr>
          <p:cNvPr id="7" name="Picture 6">
            <a:extLst>
              <a:ext uri="{FF2B5EF4-FFF2-40B4-BE49-F238E27FC236}">
                <a16:creationId xmlns:a16="http://schemas.microsoft.com/office/drawing/2014/main" id="{B03858AB-6957-BE2D-C3C8-64067959B46E}"/>
              </a:ext>
            </a:extLst>
          </p:cNvPr>
          <p:cNvPicPr>
            <a:picLocks noChangeAspect="1"/>
          </p:cNvPicPr>
          <p:nvPr/>
        </p:nvPicPr>
        <p:blipFill>
          <a:blip r:embed="rId3"/>
          <a:stretch>
            <a:fillRect/>
          </a:stretch>
        </p:blipFill>
        <p:spPr>
          <a:xfrm>
            <a:off x="3685837" y="2588105"/>
            <a:ext cx="4820323" cy="1390844"/>
          </a:xfrm>
          <a:prstGeom prst="rect">
            <a:avLst/>
          </a:prstGeom>
        </p:spPr>
      </p:pic>
    </p:spTree>
    <p:extLst>
      <p:ext uri="{BB962C8B-B14F-4D97-AF65-F5344CB8AC3E}">
        <p14:creationId xmlns:p14="http://schemas.microsoft.com/office/powerpoint/2010/main" val="3015427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B6A09-57D8-6AF7-C47E-96B1DCF02CF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9AC752-B511-17B2-0964-23032FF092D5}"/>
              </a:ext>
            </a:extLst>
          </p:cNvPr>
          <p:cNvSpPr>
            <a:spLocks noGrp="1"/>
          </p:cNvSpPr>
          <p:nvPr>
            <p:ph type="sldNum" sz="quarter" idx="12"/>
          </p:nvPr>
        </p:nvSpPr>
        <p:spPr/>
        <p:txBody>
          <a:bodyPr/>
          <a:lstStyle/>
          <a:p>
            <a:fld id="{B5CEABB6-07DC-46E8-9B57-56EC44A396E5}" type="slidenum">
              <a:rPr lang="en-US" smtClean="0"/>
              <a:pPr/>
              <a:t>12</a:t>
            </a:fld>
            <a:endParaRPr lang="en-US" dirty="0"/>
          </a:p>
        </p:txBody>
      </p:sp>
      <p:sp>
        <p:nvSpPr>
          <p:cNvPr id="12" name="TextBox 11">
            <a:extLst>
              <a:ext uri="{FF2B5EF4-FFF2-40B4-BE49-F238E27FC236}">
                <a16:creationId xmlns:a16="http://schemas.microsoft.com/office/drawing/2014/main" id="{260B36D4-CA0F-1B20-5CE7-B6A862CC3CCF}"/>
              </a:ext>
            </a:extLst>
          </p:cNvPr>
          <p:cNvSpPr txBox="1"/>
          <p:nvPr/>
        </p:nvSpPr>
        <p:spPr>
          <a:xfrm>
            <a:off x="682337" y="5358953"/>
            <a:ext cx="10633363" cy="923330"/>
          </a:xfrm>
          <a:prstGeom prst="rect">
            <a:avLst/>
          </a:prstGeom>
          <a:noFill/>
        </p:spPr>
        <p:txBody>
          <a:bodyPr wrap="square" rtlCol="0">
            <a:spAutoFit/>
          </a:bodyPr>
          <a:lstStyle/>
          <a:p>
            <a:pPr algn="ctr"/>
            <a:r>
              <a:rPr lang="en-US" dirty="0"/>
              <a:t>From the graph, it appears that many Superbowl commercials were funny, with Bud Light’s commercials having a large proportion of funny commercials. On the other hand, Coca-Cola, Budweiser, and NFL had a large proportion of commercials that were deemed not funny. </a:t>
            </a:r>
          </a:p>
        </p:txBody>
      </p:sp>
      <p:pic>
        <p:nvPicPr>
          <p:cNvPr id="11" name="Picture 10">
            <a:extLst>
              <a:ext uri="{FF2B5EF4-FFF2-40B4-BE49-F238E27FC236}">
                <a16:creationId xmlns:a16="http://schemas.microsoft.com/office/drawing/2014/main" id="{2807253A-60CA-85DA-617A-93D1693A0914}"/>
              </a:ext>
            </a:extLst>
          </p:cNvPr>
          <p:cNvPicPr>
            <a:picLocks noChangeAspect="1"/>
          </p:cNvPicPr>
          <p:nvPr/>
        </p:nvPicPr>
        <p:blipFill>
          <a:blip r:embed="rId2"/>
          <a:stretch>
            <a:fillRect/>
          </a:stretch>
        </p:blipFill>
        <p:spPr>
          <a:xfrm>
            <a:off x="2457007" y="520299"/>
            <a:ext cx="7277986" cy="4704064"/>
          </a:xfrm>
          <a:prstGeom prst="rect">
            <a:avLst/>
          </a:prstGeom>
        </p:spPr>
      </p:pic>
    </p:spTree>
    <p:extLst>
      <p:ext uri="{BB962C8B-B14F-4D97-AF65-F5344CB8AC3E}">
        <p14:creationId xmlns:p14="http://schemas.microsoft.com/office/powerpoint/2010/main" val="350879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9B68-6E42-CA95-BD96-42CAE2D38A1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F5EF5F-963B-C73A-A6DA-86A4F9EFB9DA}"/>
              </a:ext>
            </a:extLst>
          </p:cNvPr>
          <p:cNvSpPr>
            <a:spLocks noGrp="1"/>
          </p:cNvSpPr>
          <p:nvPr>
            <p:ph type="sldNum" sz="quarter" idx="12"/>
          </p:nvPr>
        </p:nvSpPr>
        <p:spPr/>
        <p:txBody>
          <a:bodyPr/>
          <a:lstStyle/>
          <a:p>
            <a:fld id="{B5CEABB6-07DC-46E8-9B57-56EC44A396E5}" type="slidenum">
              <a:rPr lang="en-US" smtClean="0"/>
              <a:pPr/>
              <a:t>13</a:t>
            </a:fld>
            <a:endParaRPr lang="en-US" dirty="0"/>
          </a:p>
        </p:txBody>
      </p:sp>
      <p:sp>
        <p:nvSpPr>
          <p:cNvPr id="12" name="TextBox 11">
            <a:extLst>
              <a:ext uri="{FF2B5EF4-FFF2-40B4-BE49-F238E27FC236}">
                <a16:creationId xmlns:a16="http://schemas.microsoft.com/office/drawing/2014/main" id="{6C7D28E9-99FF-5FC8-CF12-64568A977412}"/>
              </a:ext>
            </a:extLst>
          </p:cNvPr>
          <p:cNvSpPr txBox="1"/>
          <p:nvPr/>
        </p:nvSpPr>
        <p:spPr>
          <a:xfrm>
            <a:off x="682337" y="5358953"/>
            <a:ext cx="10633363" cy="923330"/>
          </a:xfrm>
          <a:prstGeom prst="rect">
            <a:avLst/>
          </a:prstGeom>
          <a:noFill/>
        </p:spPr>
        <p:txBody>
          <a:bodyPr wrap="square" rtlCol="0">
            <a:spAutoFit/>
          </a:bodyPr>
          <a:lstStyle/>
          <a:p>
            <a:pPr algn="ctr"/>
            <a:r>
              <a:rPr lang="en-US" dirty="0"/>
              <a:t>It seemed that for Budweiser, Coca-Cola, and Doritos, the trajectory was mostly constant with one spike. For the NFL, however, its trajectory seems to be increasing every year, with a large jump after 2020. </a:t>
            </a:r>
          </a:p>
        </p:txBody>
      </p:sp>
      <p:pic>
        <p:nvPicPr>
          <p:cNvPr id="6" name="Picture 5">
            <a:extLst>
              <a:ext uri="{FF2B5EF4-FFF2-40B4-BE49-F238E27FC236}">
                <a16:creationId xmlns:a16="http://schemas.microsoft.com/office/drawing/2014/main" id="{8649EC59-041F-6C84-0D90-4FA5C7DF5E62}"/>
              </a:ext>
            </a:extLst>
          </p:cNvPr>
          <p:cNvPicPr>
            <a:picLocks noChangeAspect="1"/>
          </p:cNvPicPr>
          <p:nvPr/>
        </p:nvPicPr>
        <p:blipFill>
          <a:blip r:embed="rId2"/>
          <a:stretch>
            <a:fillRect/>
          </a:stretch>
        </p:blipFill>
        <p:spPr>
          <a:xfrm>
            <a:off x="2467202" y="647963"/>
            <a:ext cx="7063631" cy="4565518"/>
          </a:xfrm>
          <a:prstGeom prst="rect">
            <a:avLst/>
          </a:prstGeom>
        </p:spPr>
      </p:pic>
    </p:spTree>
    <p:extLst>
      <p:ext uri="{BB962C8B-B14F-4D97-AF65-F5344CB8AC3E}">
        <p14:creationId xmlns:p14="http://schemas.microsoft.com/office/powerpoint/2010/main" val="2492520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1B53-6EB2-B66B-4833-478D0F499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009C9-FA43-1911-BD21-6331668A5FFD}"/>
              </a:ext>
            </a:extLst>
          </p:cNvPr>
          <p:cNvSpPr>
            <a:spLocks noGrp="1"/>
          </p:cNvSpPr>
          <p:nvPr>
            <p:ph type="ctrTitle"/>
          </p:nvPr>
        </p:nvSpPr>
        <p:spPr/>
        <p:txBody>
          <a:bodyPr/>
          <a:lstStyle/>
          <a:p>
            <a:pPr algn="ctr"/>
            <a:r>
              <a:rPr lang="en-US" dirty="0"/>
              <a:t>MSFT.csv</a:t>
            </a:r>
          </a:p>
        </p:txBody>
      </p:sp>
    </p:spTree>
    <p:extLst>
      <p:ext uri="{BB962C8B-B14F-4D97-AF65-F5344CB8AC3E}">
        <p14:creationId xmlns:p14="http://schemas.microsoft.com/office/powerpoint/2010/main" val="1567765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88D6-F214-F5AA-514B-F57E4C937CF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6E8BDA-B999-1FD2-9C4C-23E45594B531}"/>
              </a:ext>
            </a:extLst>
          </p:cNvPr>
          <p:cNvSpPr>
            <a:spLocks noGrp="1"/>
          </p:cNvSpPr>
          <p:nvPr>
            <p:ph type="sldNum" sz="quarter" idx="12"/>
          </p:nvPr>
        </p:nvSpPr>
        <p:spPr/>
        <p:txBody>
          <a:bodyPr/>
          <a:lstStyle/>
          <a:p>
            <a:fld id="{B5CEABB6-07DC-46E8-9B57-56EC44A396E5}" type="slidenum">
              <a:rPr lang="en-US" smtClean="0"/>
              <a:pPr/>
              <a:t>15</a:t>
            </a:fld>
            <a:endParaRPr lang="en-US" dirty="0"/>
          </a:p>
        </p:txBody>
      </p:sp>
      <p:sp>
        <p:nvSpPr>
          <p:cNvPr id="12" name="TextBox 11">
            <a:extLst>
              <a:ext uri="{FF2B5EF4-FFF2-40B4-BE49-F238E27FC236}">
                <a16:creationId xmlns:a16="http://schemas.microsoft.com/office/drawing/2014/main" id="{4BDDE7D3-D365-4537-F6D2-3A6658D9CF1C}"/>
              </a:ext>
            </a:extLst>
          </p:cNvPr>
          <p:cNvSpPr txBox="1"/>
          <p:nvPr/>
        </p:nvSpPr>
        <p:spPr>
          <a:xfrm>
            <a:off x="682337" y="5358953"/>
            <a:ext cx="10633363" cy="923330"/>
          </a:xfrm>
          <a:prstGeom prst="rect">
            <a:avLst/>
          </a:prstGeom>
          <a:noFill/>
        </p:spPr>
        <p:txBody>
          <a:bodyPr wrap="square" rtlCol="0">
            <a:spAutoFit/>
          </a:bodyPr>
          <a:lstStyle/>
          <a:p>
            <a:pPr algn="ctr"/>
            <a:r>
              <a:rPr lang="en-US" dirty="0"/>
              <a:t>The data frame I chose shows Microsoft’s closing price on the stock market every day from 2005 to 2020. It appears that as time went on, Microsoft’s stock prices increased everyday, indicating their large-scale success in the technology world. The data frame can be found at this </a:t>
            </a:r>
            <a:r>
              <a:rPr lang="en-US" dirty="0">
                <a:hlinkClick r:id="rId2"/>
              </a:rPr>
              <a:t>link</a:t>
            </a:r>
            <a:r>
              <a:rPr lang="en-US" dirty="0"/>
              <a:t>. </a:t>
            </a:r>
          </a:p>
        </p:txBody>
      </p:sp>
      <p:pic>
        <p:nvPicPr>
          <p:cNvPr id="4" name="Picture 3">
            <a:extLst>
              <a:ext uri="{FF2B5EF4-FFF2-40B4-BE49-F238E27FC236}">
                <a16:creationId xmlns:a16="http://schemas.microsoft.com/office/drawing/2014/main" id="{79D66CC1-9A68-3B81-2669-EBB15F7B8E45}"/>
              </a:ext>
            </a:extLst>
          </p:cNvPr>
          <p:cNvPicPr>
            <a:picLocks noChangeAspect="1"/>
          </p:cNvPicPr>
          <p:nvPr/>
        </p:nvPicPr>
        <p:blipFill>
          <a:blip r:embed="rId3"/>
          <a:stretch>
            <a:fillRect/>
          </a:stretch>
        </p:blipFill>
        <p:spPr>
          <a:xfrm>
            <a:off x="2361551" y="566969"/>
            <a:ext cx="7299418" cy="4717917"/>
          </a:xfrm>
          <a:prstGeom prst="rect">
            <a:avLst/>
          </a:prstGeom>
        </p:spPr>
      </p:pic>
    </p:spTree>
    <p:extLst>
      <p:ext uri="{BB962C8B-B14F-4D97-AF65-F5344CB8AC3E}">
        <p14:creationId xmlns:p14="http://schemas.microsoft.com/office/powerpoint/2010/main" val="3154939905"/>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2.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{29B10AA5-7AB1-432B-8925-3B8F1BE7FE95}TF55c86556-70ea-476e-aa05-13a38f2d5b0da1381d77_win32-a3c664429073</Template>
  <TotalTime>237</TotalTime>
  <Words>533</Words>
  <Application>Microsoft Office PowerPoint</Application>
  <PresentationFormat>Widescreen</PresentationFormat>
  <Paragraphs>26</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Avenir Next LT Pro</vt:lpstr>
      <vt:lpstr>Calibri</vt:lpstr>
      <vt:lpstr>Custom</vt:lpstr>
      <vt:lpstr>STA 301H Homework #1</vt:lpstr>
      <vt:lpstr>Risk.csv</vt:lpstr>
      <vt:lpstr>PowerPoint Presentation</vt:lpstr>
      <vt:lpstr>PowerPoint Presentation</vt:lpstr>
      <vt:lpstr>PowerPoint Presentation</vt:lpstr>
      <vt:lpstr>Candies.csv</vt:lpstr>
      <vt:lpstr>PowerPoint Presentation</vt:lpstr>
      <vt:lpstr>PowerPoint Presentation</vt:lpstr>
      <vt:lpstr>PowerPoint Presentation</vt:lpstr>
      <vt:lpstr>superbowl.csv</vt:lpstr>
      <vt:lpstr>PowerPoint Presentation</vt:lpstr>
      <vt:lpstr>PowerPoint Presentation</vt:lpstr>
      <vt:lpstr>PowerPoint Presentation</vt:lpstr>
      <vt:lpstr>MSFT.csv</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Verma, Ronit</dc:creator>
  <cp:lastModifiedBy>Verma, Ronit</cp:lastModifiedBy>
  <cp:revision>2</cp:revision>
  <dcterms:created xsi:type="dcterms:W3CDTF">2026-02-11T22:16:28Z</dcterms:created>
  <dcterms:modified xsi:type="dcterms:W3CDTF">2026-02-12T02:13:35Z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